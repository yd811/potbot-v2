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6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🪴 PotBot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Collective Trading Vaults on Solana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Solana Frontier 2026  ·  @YD811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trading is broken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💸 No shared rails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on-chain primitive for collective vaults. Friends trust each other's wallets — until they don't.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🗳️ No coordination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approves the trade? Discord DMs, missed messages, someone rage-selling the group bag.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463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🐢 No accountability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history, no record, no on-chain proof of who voted for what.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programmable collective vault with built-in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vault. One crew. One on-chain identity.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⚙️ Shared vault — pool SOL &amp; tokens, issue shares proportionally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26974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🗳️ Governance — every action requires member approval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35661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🪴 Tamagotchi — your POT grows an on-chain creature that levels up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a POT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32004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a PDA vault. Set governance level L0-L4. Invite your crew.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280160"/>
            <a:ext cx="73152" cy="32004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Pool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Members deposit SOL/tokens. Get shares. All on-chain, non-custodial.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280160"/>
            <a:ext cx="73152" cy="320040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Anyone proposes a swap. Members vote. Jupiter executes if approved.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you actually configure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degeneracy level, your rules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Autocracy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Authority decides instantly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591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23591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Majority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3591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&gt;50% votes required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72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0723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Supermajority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0723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66%+ required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8561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7856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Weighted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7856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Vote weight = share size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53128"/>
            <a:ext cx="8229600" cy="59436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453128"/>
            <a:ext cx="73152" cy="59436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988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4988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Consensus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4988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100% agreement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Distribution: where your users already 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914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/start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Links Solana wallet via deep-link. Zero custody.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840480" cy="914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/pot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Fetches your vaults live from devnet RPC.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3840480" cy="91440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/swap 10 SOL JUP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Validates, previews Jupiter route, creates governance proposal.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2.9B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46320" y="2606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active Telegram users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Shipped in 2 weeks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⚓ Anchor Programs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pot_vault + duel programs, PDAs, governance, CPI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1887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Next.js 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Dashboard, POT detail page, 3-step creation wizard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🤖 Telegram Bot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Wallet linking, real RPC queries, swap proposals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Jupiter v6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Swap CPI integration 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0175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TanStack Query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on-chain data with mock fallback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017520"/>
            <a:ext cx="2743200" cy="164592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🏗️ Turborepo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5-package monorepo: program, sdk, web, bot, ui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$2.1T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crypto trading volume in 2024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9184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 active wallets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126480" y="21945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Telegram crypto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trading (friends, guilds, DAOs) has no dedicated infrastructure on Solana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We're asking for $10K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F19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Kickstart — equity-free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560320" cy="237744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to devnet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$2K — RPC costs, infra, testing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60320" cy="237744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2900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Polish the 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$5K — UX, Tamagotchi animations, SNS integration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560320" cy="2377440"/>
          </a:xfrm>
          <a:prstGeom prst="rect">
            <a:avLst/>
          </a:prstGeom>
          <a:solidFill>
            <a:srgbClr val="16161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 the community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0175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$3K — community events, builder partnerships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EB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github.com/YD811/potbot-v2  ·  @YD811 on 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b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</a:rPr>
              <a:t>⚔ POT Duels</a:t>
            </a:r>
            <a:endParaRPr lang="en-US" sz="3200" dirty="0"/>
          </a:p>
        </p:txBody>
      </p:sp>
      <p:sp>
        <p:nvSpPr>
          <p:cNvPr id="3" name="Subtitle"/>
          <p:cNvSpPr/>
          <p:nvPr/>
        </p:nvSpPr>
        <p:spPr>
          <a:xfrm>
            <a:off x="457200" y="868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8C5A"/>
                </a:solidFill>
                <a:latin typeface="Helvetica" pitchFamily="34" charset="0"/>
              </a:rPr>
              <a:t>Two vaults. One challenge. Spectators bet. Winner claims it all. Fully on-chain.</a:t>
            </a:r>
            <a:endParaRPr lang="en-US" sz="1400" dirty="0"/>
          </a:p>
        </p:txBody>
      </p:sp>
      <p:sp>
        <p:nvSpPr>
          <p:cNvPr id="10" name="Card1BG"/>
          <p:cNvSpPr/>
          <p:nvPr/>
        </p:nvSpPr>
        <p:spPr>
          <a:xfrm>
            <a:off x="457200" y="1280160"/>
            <a:ext cx="1920240" cy="1920240"/>
          </a:xfrm>
          <a:prstGeom prst="rect">
            <a:avLst/>
          </a:prstGeom>
          <a:solidFill>
            <a:srgbClr val="16161E"/>
          </a:solidFill>
          <a:ln w="19050">
            <a:solidFill>
              <a:srgbClr val="FF6B35">
                <a:alpha val="25000"/>
              </a:srgbClr>
            </a:solidFill>
          </a:ln>
        </p:spPr>
      </p:sp>
      <p:sp>
        <p:nvSpPr>
          <p:cNvPr id="11" name="Card1Num"/>
          <p:cNvSpPr/>
          <p:nvPr/>
        </p:nvSpPr>
        <p:spPr>
          <a:xfrm>
            <a:off x="59436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Helvetica" pitchFamily="34" charset="0"/>
              </a:rPr>
              <a:t>01 CHALLENGE</a:t>
            </a:r>
          </a:p>
        </p:txBody>
      </p:sp>
      <p:sp>
        <p:nvSpPr>
          <p:cNvPr id="12" name="Card1Label"/>
          <p:cNvSpPr/>
          <p:nvPr/>
        </p:nvSpPr>
        <p:spPr>
          <a:xfrm>
            <a:off x="594360" y="1690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</a:rPr>
              <a:t>POT issues duel</a:t>
            </a:r>
          </a:p>
        </p:txBody>
      </p:sp>
      <p:sp>
        <p:nvSpPr>
          <p:cNvPr id="13" name="Card1Desc"/>
          <p:cNvSpPr/>
          <p:nvPr/>
        </p:nvSpPr>
        <p:spPr>
          <a:xfrm>
            <a:off x="59436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EB7"/>
                </a:solidFill>
                <a:latin typeface="Helvetica" pitchFamily="34" charset="0"/>
              </a:rPr>
              <a:t>Challenger proposes stake % and duration. Defender votes to accept.</a:t>
            </a:r>
          </a:p>
        </p:txBody>
      </p:sp>
      <p:sp>
        <p:nvSpPr>
          <p:cNvPr id="20" name="Card2BG"/>
          <p:cNvSpPr/>
          <p:nvPr/>
        </p:nvSpPr>
        <p:spPr>
          <a:xfrm>
            <a:off x="2514600" y="1280160"/>
            <a:ext cx="1920240" cy="1920240"/>
          </a:xfrm>
          <a:prstGeom prst="rect">
            <a:avLst/>
          </a:prstGeom>
          <a:solidFill>
            <a:srgbClr val="16161E"/>
          </a:solidFill>
          <a:ln w="19050">
            <a:solidFill>
              <a:srgbClr val="FF6B35">
                <a:alpha val="25000"/>
              </a:srgbClr>
            </a:solidFill>
          </a:ln>
        </p:spPr>
      </p:sp>
      <p:sp>
        <p:nvSpPr>
          <p:cNvPr id="21" name="Card2Num"/>
          <p:cNvSpPr/>
          <p:nvPr/>
        </p:nvSpPr>
        <p:spPr>
          <a:xfrm>
            <a:off x="265176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Helvetica" pitchFamily="34" charset="0"/>
              </a:rPr>
              <a:t>02 LOCK STAKE</a:t>
            </a:r>
          </a:p>
        </p:txBody>
      </p:sp>
      <p:sp>
        <p:nvSpPr>
          <p:cNvPr id="22" name="Card2Label"/>
          <p:cNvSpPr/>
          <p:nvPr/>
        </p:nvSpPr>
        <p:spPr>
          <a:xfrm>
            <a:off x="2651760" y="1690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</a:rPr>
              <a:t>SOL into escrow</a:t>
            </a:r>
          </a:p>
        </p:txBody>
      </p:sp>
      <p:sp>
        <p:nvSpPr>
          <p:cNvPr id="23" name="Card2Desc"/>
          <p:cNvSpPr/>
          <p:nvPr/>
        </p:nvSpPr>
        <p:spPr>
          <a:xfrm>
            <a:off x="265176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EB7"/>
                </a:solidFill>
                <a:latin typeface="Helvetica" pitchFamily="34" charset="0"/>
              </a:rPr>
              <a:t>Both POTs lock % of vault into on-chain escrow PDA. Non-custodial.</a:t>
            </a:r>
          </a:p>
        </p:txBody>
      </p:sp>
      <p:sp>
        <p:nvSpPr>
          <p:cNvPr id="30" name="Card3BG"/>
          <p:cNvSpPr/>
          <p:nvPr/>
        </p:nvSpPr>
        <p:spPr>
          <a:xfrm>
            <a:off x="4572000" y="1280160"/>
            <a:ext cx="1920240" cy="1920240"/>
          </a:xfrm>
          <a:prstGeom prst="rect">
            <a:avLst/>
          </a:prstGeom>
          <a:solidFill>
            <a:srgbClr val="1A1510"/>
          </a:solidFill>
          <a:ln w="28575">
            <a:solidFill>
              <a:srgbClr val="FFD700">
                <a:alpha val="40000"/>
              </a:srgbClr>
            </a:solidFill>
          </a:ln>
        </p:spPr>
      </p:sp>
      <p:sp>
        <p:nvSpPr>
          <p:cNvPr id="31" name="Card3Num"/>
          <p:cNvSpPr/>
          <p:nvPr/>
        </p:nvSpPr>
        <p:spPr>
          <a:xfrm>
            <a:off x="470916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Helvetica" pitchFamily="34" charset="0"/>
              </a:rPr>
              <a:t>03 SIDE BETS</a:t>
            </a:r>
          </a:p>
        </p:txBody>
      </p:sp>
      <p:sp>
        <p:nvSpPr>
          <p:cNvPr id="32" name="Card3Label"/>
          <p:cNvSpPr/>
          <p:nvPr/>
        </p:nvSpPr>
        <p:spPr>
          <a:xfrm>
            <a:off x="4709160" y="1690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</a:rPr>
              <a:t>Spectators pile in</a:t>
            </a:r>
          </a:p>
        </p:txBody>
      </p:sp>
      <p:sp>
        <p:nvSpPr>
          <p:cNvPr id="33" name="Card3Desc"/>
          <p:cNvSpPr/>
          <p:nvPr/>
        </p:nvSpPr>
        <p:spPr>
          <a:xfrm>
            <a:off x="470916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EB7"/>
                </a:solidFill>
                <a:latin typeface="Helvetica" pitchFamily="34" charset="0"/>
              </a:rPr>
              <a:t>Any Telegram user bets SOL on a side. Stakes locked in escrow on-chain.</a:t>
            </a:r>
          </a:p>
        </p:txBody>
      </p:sp>
      <p:sp>
        <p:nvSpPr>
          <p:cNvPr id="40" name="Card4BG"/>
          <p:cNvSpPr/>
          <p:nvPr/>
        </p:nvSpPr>
        <p:spPr>
          <a:xfrm>
            <a:off x="6629400" y="1280160"/>
            <a:ext cx="1920240" cy="1920240"/>
          </a:xfrm>
          <a:prstGeom prst="rect">
            <a:avLst/>
          </a:prstGeom>
          <a:solidFill>
            <a:srgbClr val="0F1A14"/>
          </a:solidFill>
          <a:ln w="19050">
            <a:solidFill>
              <a:srgbClr val="14F195">
                <a:alpha val="40000"/>
              </a:srgbClr>
            </a:solidFill>
          </a:ln>
        </p:spPr>
      </p:sp>
      <p:sp>
        <p:nvSpPr>
          <p:cNvPr id="41" name="Card4Num"/>
          <p:cNvSpPr/>
          <p:nvPr/>
        </p:nvSpPr>
        <p:spPr>
          <a:xfrm>
            <a:off x="6766560" y="1371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Helvetica" pitchFamily="34" charset="0"/>
              </a:rPr>
              <a:t>04 SETTLE</a:t>
            </a:r>
          </a:p>
        </p:txBody>
      </p:sp>
      <p:sp>
        <p:nvSpPr>
          <p:cNvPr id="42" name="Card4Label"/>
          <p:cNvSpPr/>
          <p:nvPr/>
        </p:nvSpPr>
        <p:spPr>
          <a:xfrm>
            <a:off x="6766560" y="1690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</a:rPr>
              <a:t>Permissionless close</a:t>
            </a:r>
          </a:p>
        </p:txBody>
      </p:sp>
      <p:sp>
        <p:nvSpPr>
          <p:cNvPr id="43" name="Card4Desc"/>
          <p:cNvSpPr/>
          <p:nvPr/>
        </p:nvSpPr>
        <p:spPr>
          <a:xfrm>
            <a:off x="6766560" y="20574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EB7"/>
                </a:solidFill>
                <a:latin typeface="Helvetica" pitchFamily="34" charset="0"/>
              </a:rPr>
              <a:t>Better return wins. Stake + side bets auto-pay out. Tamagotchi levels up.</a:t>
            </a:r>
          </a:p>
        </p:txBody>
      </p:sp>
      <p:sp>
        <p:nvSpPr>
          <p:cNvPr id="50" name="Pill1BG"/>
          <p:cNvSpPr/>
          <p:nvPr/>
        </p:nvSpPr>
        <p:spPr>
          <a:xfrm>
            <a:off x="457200" y="3428400"/>
            <a:ext cx="2606040" cy="411480"/>
          </a:xfrm>
          <a:prstGeom prst="rect">
            <a:avLst/>
          </a:prstGeom>
          <a:solidFill>
            <a:srgbClr val="1E1212"/>
          </a:solidFill>
          <a:ln w="19050">
            <a:solidFill>
              <a:srgbClr val="FF6B35"/>
            </a:solidFill>
          </a:ln>
        </p:spPr>
      </p:sp>
      <p:sp>
        <p:nvSpPr>
          <p:cNvPr id="51" name="Pill1Text"/>
          <p:cNvSpPr/>
          <p:nvPr/>
        </p:nvSpPr>
        <p:spPr>
          <a:xfrm>
            <a:off x="457200" y="3428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9966"/>
                </a:solidFill>
                <a:latin typeface="Helvetica" pitchFamily="34" charset="0"/>
              </a:rPr>
              <a:t>Permissionless settlement</a:t>
            </a:r>
          </a:p>
        </p:txBody>
      </p:sp>
      <p:sp>
        <p:nvSpPr>
          <p:cNvPr id="52" name="Pill2BG"/>
          <p:cNvSpPr/>
          <p:nvPr/>
        </p:nvSpPr>
        <p:spPr>
          <a:xfrm>
            <a:off x="3269280" y="3428400"/>
            <a:ext cx="2606040" cy="411480"/>
          </a:xfrm>
          <a:prstGeom prst="rect">
            <a:avLst/>
          </a:prstGeom>
          <a:solidFill>
            <a:srgbClr val="1A1A0F"/>
          </a:solidFill>
          <a:ln w="19050">
            <a:solidFill>
              <a:srgbClr val="FFD700"/>
            </a:solidFill>
          </a:ln>
        </p:spPr>
      </p:sp>
      <p:sp>
        <p:nvSpPr>
          <p:cNvPr id="53" name="Pill2Text"/>
          <p:cNvSpPr/>
          <p:nvPr/>
        </p:nvSpPr>
        <p:spPr>
          <a:xfrm>
            <a:off x="3269280" y="3428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Helvetica" pitchFamily="34" charset="0"/>
              </a:rPr>
              <a:t>Spectators = viral distribution</a:t>
            </a:r>
          </a:p>
        </p:txBody>
      </p:sp>
      <p:sp>
        <p:nvSpPr>
          <p:cNvPr id="54" name="Pill3BG"/>
          <p:cNvSpPr/>
          <p:nvPr/>
        </p:nvSpPr>
        <p:spPr>
          <a:xfrm>
            <a:off x="6081360" y="3428400"/>
            <a:ext cx="2606040" cy="411480"/>
          </a:xfrm>
          <a:prstGeom prst="rect">
            <a:avLst/>
          </a:prstGeom>
          <a:solidFill>
            <a:srgbClr val="0A1A12"/>
          </a:solidFill>
          <a:ln w="19050">
            <a:solidFill>
              <a:srgbClr val="14F195"/>
            </a:solidFill>
          </a:ln>
        </p:spPr>
      </p:sp>
      <p:sp>
        <p:nvSpPr>
          <p:cNvPr id="55" name="Pill3Text"/>
          <p:cNvSpPr/>
          <p:nvPr/>
        </p:nvSpPr>
        <p:spPr>
          <a:xfrm>
            <a:off x="6081360" y="3428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F195"/>
                </a:solidFill>
                <a:latin typeface="Helvetica" pitchFamily="34" charset="0"/>
              </a:rPr>
              <a:t>Protocol fee on duel volume</a:t>
            </a:r>
          </a:p>
        </p:txBody>
      </p:sp>
      <p:sp>
        <p:nvSpPr>
          <p:cNvPr id="60" name="Tagline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</a:rPr>
              <a:t>Group DeFi as sport. Already built. Already on-chain.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2026-04-11T09:30:24Z</dcterms:created>
  <dcterms:modified xsi:type="dcterms:W3CDTF">2026-04-11T09:30:24Z</dcterms:modified>
</cp:coreProperties>
</file>